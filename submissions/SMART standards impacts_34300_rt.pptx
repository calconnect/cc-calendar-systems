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4.xml" ContentType="application/vnd.openxmlformats-officedocument.theme+xml"/>
  <Override PartName="/ppt/slideLayouts/slideLayout12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5" r:id="rId4"/>
    <p:sldMasterId id="2147483685" r:id="rId5"/>
    <p:sldMasterId id="2147483687" r:id="rId6"/>
    <p:sldMasterId id="2147483679" r:id="rId7"/>
    <p:sldMasterId id="2147483681" r:id="rId8"/>
  </p:sldMasterIdLst>
  <p:notesMasterIdLst>
    <p:notesMasterId r:id="rId10"/>
  </p:notesMasterIdLst>
  <p:handoutMasterIdLst>
    <p:handoutMasterId r:id="rId11"/>
  </p:handoutMasterIdLst>
  <p:sldIdLst>
    <p:sldId id="7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E0000"/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48003C-2F3E-40CF-906E-2BF272286802}" v="2" dt="2021-02-05T12:51:10.48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470" autoAdjust="0"/>
    <p:restoredTop sz="93943" autoAdjust="0"/>
  </p:normalViewPr>
  <p:slideViewPr>
    <p:cSldViewPr snapToGrid="0" showGuides="1">
      <p:cViewPr varScale="1">
        <p:scale>
          <a:sx n="127" d="100"/>
          <a:sy n="127" d="100"/>
        </p:scale>
        <p:origin x="224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102" d="100"/>
          <a:sy n="102" d="100"/>
        </p:scale>
        <p:origin x="3444" y="11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2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HEW Laura" userId="8cab3d38-ad2e-4b1d-b774-a0bbb9f75f0c" providerId="ADAL" clId="{8FCA1E54-EA75-4E06-92C1-C45BA37FF660}"/>
    <pc:docChg chg="modSld">
      <pc:chgData name="MATHEW Laura" userId="8cab3d38-ad2e-4b1d-b774-a0bbb9f75f0c" providerId="ADAL" clId="{8FCA1E54-EA75-4E06-92C1-C45BA37FF660}" dt="2021-02-05T13:20:02.169" v="1467" actId="6549"/>
      <pc:docMkLst>
        <pc:docMk/>
      </pc:docMkLst>
      <pc:sldChg chg="modSp">
        <pc:chgData name="MATHEW Laura" userId="8cab3d38-ad2e-4b1d-b774-a0bbb9f75f0c" providerId="ADAL" clId="{8FCA1E54-EA75-4E06-92C1-C45BA37FF660}" dt="2021-02-05T13:20:02.169" v="1467" actId="6549"/>
        <pc:sldMkLst>
          <pc:docMk/>
          <pc:sldMk cId="3143118916" sldId="761"/>
        </pc:sldMkLst>
        <pc:spChg chg="mod">
          <ac:chgData name="MATHEW Laura" userId="8cab3d38-ad2e-4b1d-b774-a0bbb9f75f0c" providerId="ADAL" clId="{8FCA1E54-EA75-4E06-92C1-C45BA37FF660}" dt="2021-02-05T08:23:15.458" v="2" actId="20577"/>
          <ac:spMkLst>
            <pc:docMk/>
            <pc:sldMk cId="3143118916" sldId="761"/>
            <ac:spMk id="7" creationId="{ACDCD812-DC0C-40AE-AD93-F7AFF5FD9F24}"/>
          </ac:spMkLst>
        </pc:spChg>
        <pc:spChg chg="mod">
          <ac:chgData name="MATHEW Laura" userId="8cab3d38-ad2e-4b1d-b774-a0bbb9f75f0c" providerId="ADAL" clId="{8FCA1E54-EA75-4E06-92C1-C45BA37FF660}" dt="2021-02-05T08:23:22.179" v="11" actId="20577"/>
          <ac:spMkLst>
            <pc:docMk/>
            <pc:sldMk cId="3143118916" sldId="761"/>
            <ac:spMk id="9" creationId="{86B53A61-2CD9-4381-B962-FBAC07050FBB}"/>
          </ac:spMkLst>
        </pc:spChg>
        <pc:spChg chg="mod">
          <ac:chgData name="MATHEW Laura" userId="8cab3d38-ad2e-4b1d-b774-a0bbb9f75f0c" providerId="ADAL" clId="{8FCA1E54-EA75-4E06-92C1-C45BA37FF660}" dt="2021-02-05T12:52:06.857" v="1035" actId="6549"/>
          <ac:spMkLst>
            <pc:docMk/>
            <pc:sldMk cId="3143118916" sldId="761"/>
            <ac:spMk id="10" creationId="{91F2EBB4-81C1-4748-9A05-8298292638F3}"/>
          </ac:spMkLst>
        </pc:spChg>
        <pc:spChg chg="mod">
          <ac:chgData name="MATHEW Laura" userId="8cab3d38-ad2e-4b1d-b774-a0bbb9f75f0c" providerId="ADAL" clId="{8FCA1E54-EA75-4E06-92C1-C45BA37FF660}" dt="2021-02-05T12:53:03.599" v="1401" actId="6549"/>
          <ac:spMkLst>
            <pc:docMk/>
            <pc:sldMk cId="3143118916" sldId="761"/>
            <ac:spMk id="11" creationId="{366C0B8B-8125-4234-8DB1-0237B10F985F}"/>
          </ac:spMkLst>
        </pc:spChg>
        <pc:spChg chg="mod">
          <ac:chgData name="MATHEW Laura" userId="8cab3d38-ad2e-4b1d-b774-a0bbb9f75f0c" providerId="ADAL" clId="{8FCA1E54-EA75-4E06-92C1-C45BA37FF660}" dt="2021-02-05T13:20:02.169" v="1467" actId="6549"/>
          <ac:spMkLst>
            <pc:docMk/>
            <pc:sldMk cId="3143118916" sldId="761"/>
            <ac:spMk id="12" creationId="{0E611CD5-0B51-40B4-BD1A-21D9620B8351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6D0019-9A8D-4B50-8ADC-B707AB21E2E7}" type="datetimeFigureOut">
              <a:rPr lang="en-US" smtClean="0"/>
              <a:t>2/9/21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38C86E-FBC3-4B8C-81A3-CD09DDA1D36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49758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6CAD3-C65A-4F67-A9C9-9F0B7AE80557}" type="datetimeFigureOut">
              <a:rPr lang="en-US" smtClean="0"/>
              <a:t>2/9/21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A616E6-3282-49AF-B187-AFD5859112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77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0" dirty="0">
              <a:latin typeface="+mn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1A616E6-3282-49AF-B187-AFD58591129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957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F6FFF-FD7D-47A2-BF40-72BE5E6400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638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967335"/>
            <a:ext cx="10808071" cy="923330"/>
          </a:xfrm>
          <a:noFill/>
        </p:spPr>
        <p:txBody>
          <a:bodyPr wrap="square" lIns="0" rIns="0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858089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4622760" y="565265"/>
            <a:ext cx="6877049" cy="923330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642964" y="1900649"/>
            <a:ext cx="6883399" cy="480131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24300" cy="68643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757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933">
          <p15:clr>
            <a:srgbClr val="FBAE40"/>
          </p15:clr>
        </p15:guide>
        <p15:guide id="1" orient="horz" pos="125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967335"/>
            <a:ext cx="10808071" cy="923330"/>
          </a:xfrm>
          <a:noFill/>
        </p:spPr>
        <p:txBody>
          <a:bodyPr wrap="square" lIns="0" rIns="0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233275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4622760" y="565265"/>
            <a:ext cx="6877049" cy="646331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642964" y="1900649"/>
            <a:ext cx="6883399" cy="535531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0" indent="0">
              <a:buNone/>
              <a:defRPr sz="3200" baseline="0"/>
            </a:lvl1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24300" cy="68643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4157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933">
          <p15:clr>
            <a:srgbClr val="FBAE40"/>
          </p15:clr>
        </p15:guide>
        <p15:guide id="1" orient="horz" pos="1253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de slides (text withou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698460" y="565265"/>
            <a:ext cx="10801350" cy="923330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19138" y="1910481"/>
            <a:ext cx="10807700" cy="480131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2352325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CF6FFF-FD7D-47A2-BF40-72BE5E6400FF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0" y="0"/>
            <a:ext cx="12192000" cy="686387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967335"/>
            <a:ext cx="10808071" cy="923330"/>
          </a:xfrm>
          <a:noFill/>
        </p:spPr>
        <p:txBody>
          <a:bodyPr wrap="square" lIns="0" rIns="0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2338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title slide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967335"/>
            <a:ext cx="10808071" cy="923330"/>
          </a:xfrm>
          <a:noFill/>
        </p:spPr>
        <p:txBody>
          <a:bodyPr wrap="square" lIns="0" rIns="0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5198475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side slides (text withou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698460" y="565265"/>
            <a:ext cx="10801350" cy="923330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19138" y="1910481"/>
            <a:ext cx="10807700" cy="480131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25414354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side slides (text without backgroun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698460" y="565265"/>
            <a:ext cx="10801350" cy="923330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719138" y="1910481"/>
            <a:ext cx="10807700" cy="480131"/>
          </a:xfrm>
          <a:prstGeom prst="rect">
            <a:avLst/>
          </a:prstGeom>
          <a:noFill/>
        </p:spPr>
        <p:txBody>
          <a:bodyPr lIns="0" rIns="0">
            <a:spAutoFit/>
          </a:bodyPr>
          <a:lstStyle>
            <a:lvl1pPr marL="0" indent="0">
              <a:buNone/>
              <a:defRPr baseline="0"/>
            </a:lvl1pPr>
          </a:lstStyle>
          <a:p>
            <a:pPr lvl="0"/>
            <a:r>
              <a:rPr lang="en-US" dirty="0"/>
              <a:t>Click to enter text</a:t>
            </a:r>
          </a:p>
        </p:txBody>
      </p:sp>
    </p:spTree>
    <p:extLst>
      <p:ext uri="{BB962C8B-B14F-4D97-AF65-F5344CB8AC3E}">
        <p14:creationId xmlns:p14="http://schemas.microsoft.com/office/powerpoint/2010/main" val="5744592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53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4622760" y="565265"/>
            <a:ext cx="6877049" cy="646331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642964" y="1900649"/>
            <a:ext cx="6883399" cy="535531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0" indent="0">
              <a:buNone/>
              <a:defRPr sz="3200" baseline="0"/>
            </a:lvl1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24300" cy="68643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153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933">
          <p15:clr>
            <a:srgbClr val="FBAE40"/>
          </p15:clr>
        </p15:guide>
        <p15:guide id="1" orient="horz" pos="1253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title slide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731837" y="2967335"/>
            <a:ext cx="10808071" cy="923330"/>
          </a:xfrm>
          <a:noFill/>
        </p:spPr>
        <p:txBody>
          <a:bodyPr wrap="square" lIns="0" rIns="0">
            <a:spAutoFit/>
          </a:bodyPr>
          <a:lstStyle>
            <a:lvl1pPr>
              <a:defRPr b="0"/>
            </a:lvl1pPr>
          </a:lstStyle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905710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Placeholder 11"/>
          <p:cNvSpPr>
            <a:spLocks noGrp="1"/>
          </p:cNvSpPr>
          <p:nvPr>
            <p:ph type="title"/>
          </p:nvPr>
        </p:nvSpPr>
        <p:spPr>
          <a:xfrm>
            <a:off x="4622760" y="565265"/>
            <a:ext cx="6877049" cy="646331"/>
          </a:xfrm>
          <a:prstGeom prst="rect">
            <a:avLst/>
          </a:prstGeom>
          <a:noFill/>
        </p:spPr>
        <p:txBody>
          <a:bodyPr vert="horz" lIns="0" tIns="45720" rIns="0" bIns="45720" rtlCol="0" anchor="t" anchorCtr="0">
            <a:spAutoFit/>
          </a:bodyPr>
          <a:lstStyle>
            <a:lvl1pPr algn="ctr">
              <a:defRPr sz="4000" b="1"/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4642964" y="1900649"/>
            <a:ext cx="6883399" cy="535531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 marL="0" indent="0">
              <a:buNone/>
              <a:defRPr sz="3200" baseline="0"/>
            </a:lvl1pPr>
          </a:lstStyle>
          <a:p>
            <a:pPr lvl="0"/>
            <a:r>
              <a:rPr lang="en-US" dirty="0"/>
              <a:t>Click to enter text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3924300" cy="686435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3654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0" pos="2933" userDrawn="1">
          <p15:clr>
            <a:srgbClr val="FBAE40"/>
          </p15:clr>
        </p15:guide>
        <p15:guide id="1" orient="horz" pos="1253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6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.png"/><Relationship Id="rId4" Type="http://schemas.openxmlformats.org/officeDocument/2006/relationships/theme" Target="../theme/theme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33109" y="6316676"/>
            <a:ext cx="406800" cy="5472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6" y="6330486"/>
            <a:ext cx="6678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731838" y="2967335"/>
            <a:ext cx="10801350" cy="923330"/>
          </a:xfrm>
          <a:prstGeom prst="rect">
            <a:avLst/>
          </a:prstGeom>
          <a:noFill/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5628218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94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265">
          <p15:clr>
            <a:srgbClr val="F26B43"/>
          </p15:clr>
        </p15:guide>
        <p15:guide id="3" pos="461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orient="horz" pos="346" userDrawn="1">
          <p15:clr>
            <a:srgbClr val="F26B43"/>
          </p15:clr>
        </p15:guide>
        <p15:guide id="7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E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33109" y="6316676"/>
            <a:ext cx="406800" cy="547200"/>
          </a:xfrm>
          <a:prstGeom prst="rect">
            <a:avLst/>
          </a:prstGeom>
          <a:blipFill>
            <a:blip r:embed="rId6"/>
            <a:stretch>
              <a:fillRect/>
            </a:stretch>
          </a:blipFill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6" y="6330486"/>
            <a:ext cx="6678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731838" y="2967335"/>
            <a:ext cx="10801350" cy="923330"/>
          </a:xfrm>
          <a:prstGeom prst="rect">
            <a:avLst/>
          </a:prstGeom>
          <a:noFill/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507755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97" r:id="rId2"/>
    <p:sldLayoutId id="2147483699" r:id="rId3"/>
    <p:sldLayoutId id="2147483700" r:id="rId4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65">
          <p15:clr>
            <a:srgbClr val="F26B43"/>
          </p15:clr>
        </p15:guide>
        <p15:guide id="2" pos="461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333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33109" y="6316676"/>
            <a:ext cx="406800" cy="547200"/>
          </a:xfrm>
          <a:prstGeom prst="rect">
            <a:avLst/>
          </a:prstGeom>
          <a:blipFill>
            <a:blip r:embed="rId4"/>
            <a:stretch>
              <a:fillRect/>
            </a:stretch>
          </a:blipFill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6" y="6330486"/>
            <a:ext cx="6678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731838" y="2967335"/>
            <a:ext cx="10801350" cy="923330"/>
          </a:xfrm>
          <a:prstGeom prst="rect">
            <a:avLst/>
          </a:prstGeom>
          <a:noFill/>
        </p:spPr>
        <p:txBody>
          <a:bodyPr vert="horz" wrap="square" lIns="0" tIns="45720" rIns="0" bIns="45720" rtlCol="0" anchor="t" anchorCtr="0">
            <a:sp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786211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91" r:id="rId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7265">
          <p15:clr>
            <a:srgbClr val="F26B43"/>
          </p15:clr>
        </p15:guide>
        <p15:guide id="2" pos="461">
          <p15:clr>
            <a:srgbClr val="F26B43"/>
          </p15:clr>
        </p15:guide>
        <p15:guide id="3" orient="horz" pos="3974">
          <p15:clr>
            <a:srgbClr val="F26B43"/>
          </p15:clr>
        </p15:guide>
        <p15:guide id="4" orient="horz" pos="2160">
          <p15:clr>
            <a:srgbClr val="F26B43"/>
          </p15:clr>
        </p15:guide>
        <p15:guide id="5" orient="horz" pos="346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33109" y="6316676"/>
            <a:ext cx="406800" cy="547200"/>
          </a:xfrm>
          <a:prstGeom prst="rect">
            <a:avLst/>
          </a:prstGeom>
          <a:blipFill>
            <a:blip r:embed="rId5"/>
            <a:stretch>
              <a:fillRect/>
            </a:stretch>
          </a:blipFill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6" y="6330486"/>
            <a:ext cx="6678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731838" y="565265"/>
            <a:ext cx="10801350" cy="92333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045562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95" r:id="rId2"/>
    <p:sldLayoutId id="2147483696" r:id="rId3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>
          <p15:clr>
            <a:srgbClr val="F26B43"/>
          </p15:clr>
        </p15:guide>
        <p15:guide id="2" pos="7265">
          <p15:clr>
            <a:srgbClr val="F26B43"/>
          </p15:clr>
        </p15:guide>
        <p15:guide id="3" pos="461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2160" userDrawn="1">
          <p15:clr>
            <a:srgbClr val="F26B43"/>
          </p15:clr>
        </p15:guide>
        <p15:guide id="6" pos="3840" userDrawn="1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133109" y="6316676"/>
            <a:ext cx="406800" cy="547200"/>
          </a:xfrm>
          <a:prstGeom prst="rect">
            <a:avLst/>
          </a:prstGeom>
          <a:blipFill>
            <a:blip r:embed="rId3"/>
            <a:stretch>
              <a:fillRect/>
            </a:stretch>
          </a:blipFill>
        </p:spPr>
        <p:txBody>
          <a:bodyPr vert="horz" lIns="0" tIns="0" rIns="0" bIns="0" rtlCol="0" anchor="b" anchorCtr="0"/>
          <a:lstStyle>
            <a:lvl1pPr algn="ctr">
              <a:defRPr sz="80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2136" y="6330486"/>
            <a:ext cx="6678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3F983E3D-8CF5-443A-A947-F913EE17176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itle Placeholder 11"/>
          <p:cNvSpPr>
            <a:spLocks noGrp="1"/>
          </p:cNvSpPr>
          <p:nvPr>
            <p:ph type="title"/>
          </p:nvPr>
        </p:nvSpPr>
        <p:spPr>
          <a:xfrm>
            <a:off x="731838" y="565265"/>
            <a:ext cx="10801350" cy="923330"/>
          </a:xfrm>
          <a:prstGeom prst="rect">
            <a:avLst/>
          </a:prstGeom>
          <a:solidFill>
            <a:schemeClr val="bg1">
              <a:alpha val="60000"/>
            </a:schemeClr>
          </a:solidFill>
        </p:spPr>
        <p:txBody>
          <a:bodyPr vert="horz" lIns="0" tIns="45720" rIns="0" bIns="45720" rtlCol="0" anchor="t" anchorCtr="0">
            <a:spAutoFit/>
          </a:bodyPr>
          <a:lstStyle/>
          <a:p>
            <a:r>
              <a:rPr lang="en-US" dirty="0"/>
              <a:t>Click to edit title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752136" y="1825625"/>
            <a:ext cx="10781052" cy="1844608"/>
          </a:xfrm>
          <a:prstGeom prst="rect">
            <a:avLst/>
          </a:prstGeom>
        </p:spPr>
        <p:txBody>
          <a:bodyPr vert="horz" lIns="0" tIns="45720" rIns="0" bIns="4572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382418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6000" b="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799">
          <p15:clr>
            <a:srgbClr val="F26B43"/>
          </p15:clr>
        </p15:guide>
        <p15:guide id="2" pos="7265">
          <p15:clr>
            <a:srgbClr val="F26B43"/>
          </p15:clr>
        </p15:guide>
        <p15:guide id="3" pos="461">
          <p15:clr>
            <a:srgbClr val="F26B43"/>
          </p15:clr>
        </p15:guide>
        <p15:guide id="4" orient="horz" pos="3974">
          <p15:clr>
            <a:srgbClr val="F26B43"/>
          </p15:clr>
        </p15:guide>
        <p15:guide id="5" orient="horz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41600" y="565265"/>
            <a:ext cx="10758209" cy="757130"/>
          </a:xfrm>
        </p:spPr>
        <p:txBody>
          <a:bodyPr wrap="square">
            <a:spAutoFit/>
          </a:bodyPr>
          <a:lstStyle/>
          <a:p>
            <a:pPr algn="ctr"/>
            <a:r>
              <a:rPr lang="en-US" sz="4800" dirty="0"/>
              <a:t>SMART PILOT : Business Case</a:t>
            </a:r>
          </a:p>
        </p:txBody>
      </p:sp>
      <p:pic>
        <p:nvPicPr>
          <p:cNvPr id="8" name="Picture Placeholder 7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36" r="7136"/>
          <a:stretch>
            <a:fillRect/>
          </a:stretch>
        </p:blipFill>
        <p:spPr/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CDCD812-DC0C-40AE-AD93-F7AFF5FD9F24}"/>
              </a:ext>
            </a:extLst>
          </p:cNvPr>
          <p:cNvSpPr/>
          <p:nvPr/>
        </p:nvSpPr>
        <p:spPr>
          <a:xfrm>
            <a:off x="731838" y="1584839"/>
            <a:ext cx="2558293" cy="3076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TC: 154</a:t>
            </a:r>
            <a:endParaRPr lang="fr-CH" b="1" dirty="0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6B53A61-2CD9-4381-B962-FBAC07050FBB}"/>
              </a:ext>
            </a:extLst>
          </p:cNvPr>
          <p:cNvSpPr/>
          <p:nvPr/>
        </p:nvSpPr>
        <p:spPr>
          <a:xfrm>
            <a:off x="3478140" y="1584839"/>
            <a:ext cx="2471413" cy="3076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GB" b="1" dirty="0">
                <a:solidFill>
                  <a:schemeClr val="tx1"/>
                </a:solidFill>
              </a:rPr>
              <a:t>STD: ISO 34300</a:t>
            </a:r>
            <a:endParaRPr lang="fr-CH" b="1" dirty="0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1F2EBB4-81C1-4748-9A05-8298292638F3}"/>
              </a:ext>
            </a:extLst>
          </p:cNvPr>
          <p:cNvSpPr/>
          <p:nvPr/>
        </p:nvSpPr>
        <p:spPr>
          <a:xfrm>
            <a:off x="731838" y="1989138"/>
            <a:ext cx="5217715" cy="347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Description of the SMART Pilot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Codes for calendar systems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This standard provides standardized codes and data models for calendar systems facilitating comparison of dates and conversion of dates between calendars and eras. Covers over 70+ calendars, including legal, civil, cultural and non-terrestrial calendars.</a:t>
            </a:r>
            <a:endParaRPr lang="fr-CH" sz="1400" b="1" dirty="0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66C0B8B-8125-4234-8DB1-0237B10F985F}"/>
              </a:ext>
            </a:extLst>
          </p:cNvPr>
          <p:cNvSpPr/>
          <p:nvPr/>
        </p:nvSpPr>
        <p:spPr>
          <a:xfrm>
            <a:off x="741600" y="4186344"/>
            <a:ext cx="5217715" cy="34713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Added Value vs Standard Level 0/1/2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(example expressed in simple terms) ___________________ ___________________________________________________</a:t>
            </a:r>
          </a:p>
          <a:p>
            <a:r>
              <a:rPr lang="en-GB" sz="1400" b="1" dirty="0">
                <a:solidFill>
                  <a:schemeClr val="tx1"/>
                </a:solidFill>
              </a:rPr>
              <a:t>Developing this standard as a SMART standard will enable the automatic understanding of calendar dates, automatic calendar date conversions and allow pulling-in of calendar system definitions by devices upon demand.</a:t>
            </a:r>
          </a:p>
          <a:p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dirty="0">
                <a:solidFill>
                  <a:schemeClr val="tx1"/>
                </a:solidFill>
              </a:rPr>
              <a:t>This standard can be utilized by the iCalendar and vCard standards that facilitates management of event and contact information on over 4 billion devices today.</a:t>
            </a:r>
            <a:endParaRPr lang="fr-CH" sz="1400" b="1" dirty="0">
              <a:solidFill>
                <a:schemeClr val="tx1"/>
              </a:solidFill>
            </a:endParaRPr>
          </a:p>
          <a:p>
            <a:endParaRPr lang="fr-CH" sz="1400" b="1" dirty="0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E611CD5-0B51-40B4-BD1A-21D9620B8351}"/>
              </a:ext>
            </a:extLst>
          </p:cNvPr>
          <p:cNvSpPr/>
          <p:nvPr/>
        </p:nvSpPr>
        <p:spPr>
          <a:xfrm>
            <a:off x="6282094" y="1584839"/>
            <a:ext cx="5217715" cy="30282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GB" b="1" dirty="0">
                <a:solidFill>
                  <a:schemeClr val="tx1"/>
                </a:solidFill>
              </a:rPr>
              <a:t>Impact</a:t>
            </a:r>
          </a:p>
          <a:p>
            <a:r>
              <a:rPr lang="en-GB" b="1" dirty="0">
                <a:solidFill>
                  <a:schemeClr val="tx1"/>
                </a:solidFill>
              </a:rPr>
              <a:t>Content: (API, </a:t>
            </a:r>
            <a:r>
              <a:rPr lang="en-GB" b="1" dirty="0" err="1">
                <a:solidFill>
                  <a:schemeClr val="tx1"/>
                </a:solidFill>
              </a:rPr>
              <a:t>db</a:t>
            </a:r>
            <a:r>
              <a:rPr lang="en-GB" b="1" dirty="0">
                <a:solidFill>
                  <a:schemeClr val="tx1"/>
                </a:solidFill>
              </a:rPr>
              <a:t>, formats..)</a:t>
            </a:r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u="sng" dirty="0">
                <a:solidFill>
                  <a:schemeClr val="tx1"/>
                </a:solidFill>
              </a:rPr>
              <a:t>Interactive access methods: Database, API and offline dataset.</a:t>
            </a:r>
          </a:p>
          <a:p>
            <a:r>
              <a:rPr lang="en-GB" sz="1400" b="1" u="sng" dirty="0">
                <a:solidFill>
                  <a:schemeClr val="tx1"/>
                </a:solidFill>
              </a:rPr>
              <a:t>Formats: available in JSON, YAML, XML, RDF.</a:t>
            </a:r>
            <a:endParaRPr lang="fr-CH" sz="1400" b="1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Dev Tools: </a:t>
            </a:r>
            <a:r>
              <a:rPr lang="en-GB" sz="1400" b="1" u="sng" dirty="0">
                <a:solidFill>
                  <a:schemeClr val="tx1"/>
                </a:solidFill>
              </a:rPr>
              <a:t>Open-source data model editor that supports the ISO 19135-1 registry standard.</a:t>
            </a:r>
          </a:p>
          <a:p>
            <a:r>
              <a:rPr lang="en-GB" b="1" dirty="0">
                <a:solidFill>
                  <a:schemeClr val="tx1"/>
                </a:solidFill>
              </a:rPr>
              <a:t>Policy: What procedure to be used </a:t>
            </a:r>
          </a:p>
          <a:p>
            <a:r>
              <a:rPr lang="en-GB" sz="1400" b="1" u="sng" dirty="0">
                <a:solidFill>
                  <a:schemeClr val="tx1"/>
                </a:solidFill>
              </a:rPr>
              <a:t>Prefer ”Registration authorities”, Annex H. Annex SK may cause delays in registering additional calendars.</a:t>
            </a:r>
            <a:endParaRPr lang="fr-CH" sz="1400" b="1" u="sng" dirty="0">
              <a:solidFill>
                <a:schemeClr val="tx1"/>
              </a:solidFill>
            </a:endParaRPr>
          </a:p>
          <a:p>
            <a:r>
              <a:rPr lang="en-GB" b="1" dirty="0">
                <a:solidFill>
                  <a:schemeClr val="tx1"/>
                </a:solidFill>
              </a:rPr>
              <a:t>Production/Editing:</a:t>
            </a:r>
            <a:endParaRPr lang="en-GB" sz="1400" b="1" dirty="0">
              <a:solidFill>
                <a:schemeClr val="tx1"/>
              </a:solidFill>
            </a:endParaRPr>
          </a:p>
          <a:p>
            <a:r>
              <a:rPr lang="en-GB" sz="1400" b="1" u="sng" dirty="0">
                <a:solidFill>
                  <a:schemeClr val="tx1"/>
                </a:solidFill>
              </a:rPr>
              <a:t>Open-source data model registry that supports ISO 19135-1 registry standard, versioning and semantic relationships. </a:t>
            </a:r>
          </a:p>
          <a:p>
            <a:r>
              <a:rPr lang="en-GB" b="1" dirty="0">
                <a:solidFill>
                  <a:schemeClr val="tx1"/>
                </a:solidFill>
              </a:rPr>
              <a:t>Commercial Policy : </a:t>
            </a:r>
          </a:p>
          <a:p>
            <a:r>
              <a:rPr lang="en-GB" sz="1400" b="1" u="sng" dirty="0">
                <a:solidFill>
                  <a:schemeClr val="tx1"/>
                </a:solidFill>
              </a:rPr>
              <a:t>Users will access this standard via an API or a database, which can be online or offline. Prefer fee-free access to enable maximum usage for online usage.</a:t>
            </a:r>
          </a:p>
          <a:p>
            <a:r>
              <a:rPr lang="en-GB" b="1" dirty="0">
                <a:solidFill>
                  <a:schemeClr val="tx1"/>
                </a:solidFill>
              </a:rPr>
              <a:t>Legal: </a:t>
            </a:r>
            <a:r>
              <a:rPr lang="en-GB" sz="1400" b="1" u="sng" dirty="0">
                <a:solidFill>
                  <a:schemeClr val="tx1"/>
                </a:solidFill>
              </a:rPr>
              <a:t>Content sourced from experts and liaisons.</a:t>
            </a:r>
          </a:p>
          <a:p>
            <a:r>
              <a:rPr lang="en-GB" b="1" dirty="0">
                <a:solidFill>
                  <a:schemeClr val="tx1"/>
                </a:solidFill>
              </a:rPr>
              <a:t>Conformity:</a:t>
            </a:r>
            <a:endParaRPr lang="fr-CH" sz="1400" b="1" dirty="0">
              <a:solidFill>
                <a:schemeClr val="tx1"/>
              </a:solidFill>
            </a:endParaRPr>
          </a:p>
          <a:p>
            <a:r>
              <a:rPr lang="en-GB" sz="1400" b="1" u="sng" dirty="0">
                <a:solidFill>
                  <a:schemeClr val="tx1"/>
                </a:solidFill>
              </a:rPr>
              <a:t>Data models contributed to the standard must meet quality and interoperability requirements defined by the standard.</a:t>
            </a:r>
            <a:endParaRPr lang="fr-CH" sz="1400" b="1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3118916"/>
      </p:ext>
    </p:extLst>
  </p:cSld>
  <p:clrMapOvr>
    <a:masterClrMapping/>
  </p:clrMapOvr>
</p:sld>
</file>

<file path=ppt/theme/theme1.xml><?xml version="1.0" encoding="utf-8"?>
<a:theme xmlns:a="http://schemas.openxmlformats.org/drawingml/2006/main" name="Titl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O Template.potx" id="{683F6157-9453-4546-A2EF-3D1C5D969320}" vid="{80FBEB72-11C6-4C07-9B5A-6C59F24DD3AA}"/>
    </a:ext>
  </a:extLst>
</a:theme>
</file>

<file path=ppt/theme/theme2.xml><?xml version="1.0" encoding="utf-8"?>
<a:theme xmlns:a="http://schemas.openxmlformats.org/drawingml/2006/main" name="Section title slide Red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O Template.potx" id="{683F6157-9453-4546-A2EF-3D1C5D969320}" vid="{7A609244-1E1A-4080-AAAC-61BF0591C861}"/>
    </a:ext>
  </a:extLst>
</a:theme>
</file>

<file path=ppt/theme/theme3.xml><?xml version="1.0" encoding="utf-8"?>
<a:theme xmlns:a="http://schemas.openxmlformats.org/drawingml/2006/main" name="Section title slide dark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O Template.potx" id="{683F6157-9453-4546-A2EF-3D1C5D969320}" vid="{B0BA834D-D045-49EC-A039-762AB2C294E8}"/>
    </a:ext>
  </a:extLst>
</a:theme>
</file>

<file path=ppt/theme/theme4.xml><?xml version="1.0" encoding="utf-8"?>
<a:theme xmlns:a="http://schemas.openxmlformats.org/drawingml/2006/main" name="Inside slides (text without background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O Template.potx" id="{683F6157-9453-4546-A2EF-3D1C5D969320}" vid="{B8A96A12-B47E-40DF-BAC8-F5B588EDA5FE}"/>
    </a:ext>
  </a:extLst>
</a:theme>
</file>

<file path=ppt/theme/theme5.xml><?xml version="1.0" encoding="utf-8"?>
<a:theme xmlns:a="http://schemas.openxmlformats.org/drawingml/2006/main" name="Side pho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SO Template.potx" id="{683F6157-9453-4546-A2EF-3D1C5D969320}" vid="{1DE2E849-57BE-488F-B116-3DDB2FB36CF5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1F4F1F604D19428E4B3053FA9CA8A1" ma:contentTypeVersion="13" ma:contentTypeDescription="Create a new document." ma:contentTypeScope="" ma:versionID="b68516b3d76b71dac6ac9fa8d3d13fa8">
  <xsd:schema xmlns:xsd="http://www.w3.org/2001/XMLSchema" xmlns:xs="http://www.w3.org/2001/XMLSchema" xmlns:p="http://schemas.microsoft.com/office/2006/metadata/properties" xmlns:ns3="4b7c7f72-f0ae-4cc1-a86a-c941a4219fcd" xmlns:ns4="e09965db-4ff5-481f-89ae-d197f3473ce8" targetNamespace="http://schemas.microsoft.com/office/2006/metadata/properties" ma:root="true" ma:fieldsID="65a8bb1c8514447e9df4b204803a8540" ns3:_="" ns4:_="">
    <xsd:import namespace="4b7c7f72-f0ae-4cc1-a86a-c941a4219fcd"/>
    <xsd:import namespace="e09965db-4ff5-481f-89ae-d197f3473ce8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DateTaken" minOccurs="0"/>
                <xsd:element ref="ns4:MediaServiceAutoTags" minOccurs="0"/>
                <xsd:element ref="ns4:MediaServiceOCR" minOccurs="0"/>
                <xsd:element ref="ns4:MediaServiceLocation" minOccurs="0"/>
                <xsd:element ref="ns4:MediaServiceGenerationTime" minOccurs="0"/>
                <xsd:element ref="ns4:MediaServiceEventHashCode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7c7f72-f0ae-4cc1-a86a-c941a4219fcd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Sharing Hint Hash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9965db-4ff5-481f-89ae-d197f3473c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95823B9-D88C-4A20-B1BB-41040CB95FB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b7c7f72-f0ae-4cc1-a86a-c941a4219fcd"/>
    <ds:schemaRef ds:uri="e09965db-4ff5-481f-89ae-d197f3473ce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1C08A7-63A3-46BC-A95F-F23E6F4E73F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B518735-D438-4699-9D24-0177001F4DC1}">
  <ds:schemaRefs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purl.org/dc/terms/"/>
    <ds:schemaRef ds:uri="http://schemas.openxmlformats.org/package/2006/metadata/core-properties"/>
    <ds:schemaRef ds:uri="e09965db-4ff5-481f-89ae-d197f3473ce8"/>
    <ds:schemaRef ds:uri="4b7c7f72-f0ae-4cc1-a86a-c941a4219fcd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ISO Template</Template>
  <TotalTime>21862</TotalTime>
  <Words>289</Words>
  <Application>Microsoft Macintosh PowerPoint</Application>
  <PresentationFormat>Widescreen</PresentationFormat>
  <Paragraphs>28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Title slide</vt:lpstr>
      <vt:lpstr>Section title slide Red</vt:lpstr>
      <vt:lpstr>Section title slide dark</vt:lpstr>
      <vt:lpstr>Inside slides (text without background)</vt:lpstr>
      <vt:lpstr>Side photo</vt:lpstr>
      <vt:lpstr>SMART PILOT : Business Case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Subtitle Place and date</dc:title>
  <dc:creator>LILOVA Petya</dc:creator>
  <cp:lastModifiedBy>Ronald Tse</cp:lastModifiedBy>
  <cp:revision>6</cp:revision>
  <dcterms:created xsi:type="dcterms:W3CDTF">2020-11-27T14:25:23Z</dcterms:created>
  <dcterms:modified xsi:type="dcterms:W3CDTF">2021-02-08T20:05:30Z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0x0101007A1F4F1F604D19428E4B3053FA9CA8A1</vt:lpwstr>
  </property>
</Properties>
</file>